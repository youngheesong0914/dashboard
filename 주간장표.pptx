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현황 &amp; TODO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01200" y="658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2026.07.20 기준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550920" cy="4434840"/>
          </a:xfrm>
          <a:prstGeom prst="roundRect">
            <a:avLst>
              <a:gd name="adj" fmla="val 18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3550920" cy="45720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280160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1874520"/>
            <a:ext cx="31668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영역 기획 — 4종 화면 확정 + 신규 1종 요건 정의</a:t>
            </a:r>
            <a:endParaRPr lang="en-US" sz="1080" dirty="0"/>
          </a:p>
          <a:p>
            <a:pPr marL="127000" indent="-1270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 화면 구현 · 목업 데이터 검증 완료 (전 기능 시연 가능)</a:t>
            </a:r>
            <a:endParaRPr lang="en-US" sz="1080" dirty="0"/>
          </a:p>
          <a:p>
            <a:pPr marL="127000" indent="-1270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1차 적용 (Claim L/T) · 결재 리스크 자동 플래깅</a:t>
            </a:r>
            <a:endParaRPr lang="en-US" sz="1080" dirty="0"/>
          </a:p>
          <a:p>
            <a:pPr marL="127000" indent="-1270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계약 5종 정의 — 화면 · 백엔드 병행 개발 체계 확보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28160" y="1280160"/>
            <a:ext cx="3550920" cy="4434840"/>
          </a:xfrm>
          <a:prstGeom prst="roundRect">
            <a:avLst>
              <a:gd name="adj" fmla="val 18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280160"/>
            <a:ext cx="3550920" cy="457200"/>
          </a:xfrm>
          <a:prstGeom prst="roundRect">
            <a:avLst>
              <a:gd name="adj" fmla="val 14000"/>
            </a:avLst>
          </a:prstGeom>
          <a:solidFill>
            <a:srgbClr val="EAF1FE"/>
          </a:solidFill>
          <a:ln/>
        </p:spPr>
      </p:sp>
      <p:sp>
        <p:nvSpPr>
          <p:cNvPr id="11" name="Text 9"/>
          <p:cNvSpPr/>
          <p:nvPr/>
        </p:nvSpPr>
        <p:spPr>
          <a:xfrm>
            <a:off x="4529328" y="1280160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9328" y="1874520"/>
            <a:ext cx="31668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· Claim 백엔드 API 개발 (마무리 단계)</a:t>
            </a:r>
            <a:endParaRPr lang="en-US" sz="1080" dirty="0"/>
          </a:p>
          <a:p>
            <a:pPr marL="127000" indent="-1270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 화면 기획 (확보 요건 기반)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53400" y="1280160"/>
            <a:ext cx="3550920" cy="4434840"/>
          </a:xfrm>
          <a:prstGeom prst="roundRect">
            <a:avLst>
              <a:gd name="adj" fmla="val 18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3400" y="1280160"/>
            <a:ext cx="3550920" cy="457200"/>
          </a:xfrm>
          <a:prstGeom prst="roundRect">
            <a:avLst>
              <a:gd name="adj" fmla="val 14000"/>
            </a:avLst>
          </a:prstGeom>
          <a:solidFill>
            <a:srgbClr val="F1F5FD"/>
          </a:solidFill>
          <a:ln/>
        </p:spPr>
      </p:sp>
      <p:sp>
        <p:nvSpPr>
          <p:cNvPr id="15" name="Text 13"/>
          <p:cNvSpPr/>
          <p:nvPr/>
        </p:nvSpPr>
        <p:spPr>
          <a:xfrm>
            <a:off x="8354568" y="1280160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 (TODO)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4568" y="1874520"/>
            <a:ext cx="31668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실데이터(OData) 연동 · 검증 — Expired · Budget은 OData 개발 대기</a:t>
            </a:r>
            <a:endParaRPr lang="en-US" sz="1080" dirty="0"/>
          </a:p>
          <a:p>
            <a:pPr marL="127000" indent="-1270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확대 — Expired 신규 적용 · Claim 기획 고도화</a:t>
            </a:r>
            <a:endParaRPr lang="en-US" sz="1080" dirty="0"/>
          </a:p>
          <a:p>
            <a:pPr marL="127000" indent="-1270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SSO 인증 연동 · 운영 준비 (보안 설정, 리포트 상세 등 잔여 기능)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5943600"/>
            <a:ext cx="11201400" cy="566928"/>
          </a:xfrm>
          <a:prstGeom prst="roundRect">
            <a:avLst>
              <a:gd name="adj" fmla="val 11290"/>
            </a:avLst>
          </a:prstGeom>
          <a:solidFill>
            <a:srgbClr val="FDF3F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협조 요청   </a:t>
            </a:r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 개발 일정 확정  ·  백엔드 구동 환경 확보  ·  원천 데이터(SAP/DB) 접근 권한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업무 영역 — 매출차감 업무 흐름 전 주기를 커버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57860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5400000">
              <a:srgbClr val="C9CDD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093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결재 조회 · 위험 건 자동 선별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경보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63240" y="2331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BE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74136" y="12070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74136" y="1481328"/>
            <a:ext cx="257860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5400000">
              <a:srgbClr val="C9CDD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57016" y="16093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57016" y="190195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 for Target Plan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57016" y="248716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집행률 · 초과 자동 표시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557016" y="329184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3557016" y="3291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57016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34456" y="2331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BE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45352" y="12070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1481328"/>
            <a:ext cx="257860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5400000">
              <a:srgbClr val="C9CDD4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28232" y="16093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28232" y="190195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28232" y="248716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L/T 단계별 분해 · AI가 우선순위 제안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428232" y="329184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3291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항로 제시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28232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· AI 적용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805672" y="2331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BE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116568" y="12070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16568" y="1481328"/>
            <a:ext cx="257860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5400000">
              <a:srgbClr val="C9CDD4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99448" y="16093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99448" y="190195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99448" y="248716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미결·연체 aging 집계 · 고위험 강조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9299448" y="329184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7" name="Text 35"/>
          <p:cNvSpPr/>
          <p:nvPr/>
        </p:nvSpPr>
        <p:spPr>
          <a:xfrm>
            <a:off x="9299448" y="3291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299448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792224" y="3858768"/>
            <a:ext cx="0" cy="347472"/>
          </a:xfrm>
          <a:prstGeom prst="line">
            <a:avLst/>
          </a:prstGeom>
          <a:noFill/>
          <a:ln w="19050">
            <a:solidFill>
              <a:srgbClr val="9FB4E8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663440" y="3858768"/>
            <a:ext cx="0" cy="347472"/>
          </a:xfrm>
          <a:prstGeom prst="line">
            <a:avLst/>
          </a:prstGeom>
          <a:noFill/>
          <a:ln w="19050">
            <a:solidFill>
              <a:srgbClr val="9FB4E8"/>
            </a:solidFill>
            <a:prstDash val="dash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534656" y="3858768"/>
            <a:ext cx="0" cy="347472"/>
          </a:xfrm>
          <a:prstGeom prst="line">
            <a:avLst/>
          </a:prstGeom>
          <a:noFill/>
          <a:ln w="19050">
            <a:solidFill>
              <a:srgbClr val="9FB4E8"/>
            </a:solidFill>
            <a:prstDash val="dash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405872" y="3858768"/>
            <a:ext cx="0" cy="347472"/>
          </a:xfrm>
          <a:prstGeom prst="line">
            <a:avLst/>
          </a:prstGeom>
          <a:noFill/>
          <a:ln w="19050">
            <a:solidFill>
              <a:srgbClr val="9FB4E8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02920" y="4224528"/>
            <a:ext cx="11201400" cy="1024128"/>
          </a:xfrm>
          <a:prstGeom prst="roundRect">
            <a:avLst>
              <a:gd name="adj" fmla="val 8036"/>
            </a:avLst>
          </a:prstGeom>
          <a:solidFill>
            <a:srgbClr val="F1F5FD"/>
          </a:solidFill>
          <a:ln w="15875">
            <a:solidFill>
              <a:srgbClr val="9FB4E8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777240" y="43525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</a:t>
            </a:r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</a:t>
            </a:r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—  4개 영역을 거래선(Customer) 축으로 관통하는 심화 분석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" y="47365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요건 확보 완료 · 화면 기획 진행 중  —  프로세스 관점(4개 영역)에 거래선 관점을 더해 입체적 분석 구조 완성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92640" y="43708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기획 중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2920" y="553212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 현황 파악(가시화) · 리스크 경보(위험 자동 식별) · 항로 제시(AI가 다음 액션 제안)  —  AI Insight 전 영역 순차 확대 예정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583387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이하 화면 캡처 내 구 명칭(Sales-Deduction AI Agent, Overdue Conditions 등)은 SD Navigator 명칭 체계로 순차 반영 예정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09928" y="1024128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709928" y="102412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경보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35808" y="1024128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1024128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3108" y="1024128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맥락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결재권자 · 일일 결재 처리 및 위험 건 우선 검토 시</a:t>
            </a:r>
            <a:endParaRPr lang="en-US" sz="1000" dirty="0"/>
          </a:p>
        </p:txBody>
      </p:sp>
      <p:pic>
        <p:nvPicPr>
          <p:cNvPr id="11" name="Image 0" descr="sho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3527161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746689" y="2649585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6689" y="26404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27103" y="3050259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827103" y="304111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21721" y="4149250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521721" y="414010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87281" y="1737360"/>
            <a:ext cx="721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 화면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87281" y="2011680"/>
            <a:ext cx="72170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결재자에게 배정된 대기 건을 한 화면에서 조회 (Inbox / 전체 전환)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항목을 Agent가 자동 선별해 우선 검토 대상으로 제시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87281" y="2999232"/>
            <a:ext cx="721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487281" y="3273552"/>
            <a:ext cx="72170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위험 결재 건 자동 플래그 — 예산 초과 · 사후 결재 · Deal Sheet 예외 유형 분류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결재 단계(생성·변경·클레임)별 대기 분포와 리스크 비중 시각화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차트 클릭 → 목록 필터 연동, Risk only 토글로 위험 건 집중 검토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87281" y="4663440"/>
            <a:ext cx="7217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포인트 — 화면 속 숫자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87281" y="4956048"/>
            <a:ext cx="2295952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87281" y="5001768"/>
            <a:ext cx="229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9건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487281" y="5330952"/>
            <a:ext cx="2295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결재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947825" y="4956048"/>
            <a:ext cx="2295952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47825" y="5001768"/>
            <a:ext cx="229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5건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47825" y="5330952"/>
            <a:ext cx="2295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자동 플래그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408368" y="4956048"/>
            <a:ext cx="2295952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08368" y="5001768"/>
            <a:ext cx="229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408368" y="5330952"/>
            <a:ext cx="2295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유형 분류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487281" y="6355080"/>
            <a:ext cx="721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결재 누락 방지 · 건별 검토 시간 단축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항로 제시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09928" y="1024128"/>
            <a:ext cx="2162556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1709928" y="1024128"/>
            <a:ext cx="2162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· AI 적용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01084" y="1024128"/>
            <a:ext cx="7648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맥락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담당자 · 월 정산 마감 후 L/T 리뷰 시</a:t>
            </a:r>
            <a:endParaRPr lang="en-US" sz="1000" dirty="0"/>
          </a:p>
        </p:txBody>
      </p:sp>
      <p:pic>
        <p:nvPicPr>
          <p:cNvPr id="9" name="Image 0" descr="shot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3179826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3205972" y="3521212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5972" y="35120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7012" y="4450734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7012" y="44415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19937" y="4450734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119937" y="44415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6889" y="2305948"/>
            <a:ext cx="237744" cy="237744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6889" y="22968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39946" y="1737360"/>
            <a:ext cx="756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 화면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139946" y="2011680"/>
            <a:ext cx="7564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처리 리드타임(L/T)을 기간 · 법인 · BA · 제품 기준으로 분석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Insight가 개선폭 · 우선 리뷰 거래선 · 병목 구간을 자동 요약 제시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39946" y="2999232"/>
            <a:ext cx="756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139946" y="3273552"/>
            <a:ext cx="75643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처리 단계(Step)별 L/T 분해 — 어느 구간에서 며칠 지연되는지 진단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회사 평균 초과 거래선 자동 필터링 테이블 (월 트렌드 · 제품군 비교 포함)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Raw Data 엑셀 다운로드로 상세 검증 지원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39946" y="4663440"/>
            <a:ext cx="75643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포인트 — 화면 속 숫자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39946" y="4956048"/>
            <a:ext cx="2411730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39946" y="5001768"/>
            <a:ext cx="2411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3,329건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139946" y="5330952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분석한 클레임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6268" y="4956048"/>
            <a:ext cx="2411730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16268" y="5001768"/>
            <a:ext cx="2411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122.4일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716268" y="5330952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L/T (▲0.6일 개선)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292590" y="4956048"/>
            <a:ext cx="2411730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292590" y="5001768"/>
            <a:ext cx="2411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68%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292590" y="5330952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병목: Customer Delay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139946" y="6355080"/>
            <a:ext cx="756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구간 조기 발견 · 담당자 분석 시간을 AI 요약으로 대체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09928" y="1024128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709928" y="102412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경보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35808" y="1024128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1024128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3108" y="1024128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맥락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 · 정산 관리 담당자 · 월별 미결 채권 점검 시</a:t>
            </a:r>
            <a:endParaRPr lang="en-US" sz="1000" dirty="0"/>
          </a:p>
        </p:txBody>
      </p:sp>
      <p:pic>
        <p:nvPicPr>
          <p:cNvPr id="11" name="Image 0" descr="shot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3644570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2198444" y="3019325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198444" y="301018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05642" y="3866858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105642" y="38577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7369" y="4872072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57369" y="486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04690" y="1737360"/>
            <a:ext cx="7099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 화면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604690" y="2011680"/>
            <a:ext cx="70996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연체 컨디션 금액을 경과 기간(aging)별로 집계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× BA × 제품 필터 기준 서버측 재집계 (구 Overdue Conditions)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04690" y="2999232"/>
            <a:ext cx="7099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604690" y="3273552"/>
            <a:ext cx="709963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90일 · 180일 초과 등 경과 구간별 금액 · 비중 요약 카드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aging 버킷 차트 + 비중 도넛으로 채권 고령화 구조 시각화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사업부(Division)별 상세 테이블 — 누적 밴드(Over 31/90/180) 강조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04690" y="4663440"/>
            <a:ext cx="70996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포인트 — 화면 속 숫자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04690" y="4956048"/>
            <a:ext cx="2256815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04690" y="5001768"/>
            <a:ext cx="2256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45.5M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604690" y="5330952"/>
            <a:ext cx="2256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연체 금액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026097" y="4956048"/>
            <a:ext cx="2256815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26097" y="5001768"/>
            <a:ext cx="2256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59%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26097" y="5330952"/>
            <a:ext cx="2256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 초과 비중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447505" y="4956048"/>
            <a:ext cx="2256815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47505" y="5001768"/>
            <a:ext cx="2256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38%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447505" y="5330952"/>
            <a:ext cx="2256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180일 초과 비중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04690" y="6053328"/>
            <a:ext cx="70996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 내 'Overdue Conditions' 표기는 신규 명칭 반영 예정 · AI Insight 슬롯 구축 완료(확대 적용 예정)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04690" y="6355080"/>
            <a:ext cx="7099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미결 채권 조기 관리 · 회수 우선순위 명확화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 for Target Plan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09928" y="1024128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709928" y="102412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경보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35808" y="1024128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1024128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3108" y="1024128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맥락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관리자 · 월 / 분기 집행 점검 시</a:t>
            </a:r>
            <a:endParaRPr lang="en-US" sz="1000" dirty="0"/>
          </a:p>
        </p:txBody>
      </p:sp>
      <p:pic>
        <p:nvPicPr>
          <p:cNvPr id="11" name="Image 0" descr="shot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4304995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989729" y="2648494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89729" y="26393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72681" y="3533721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72681" y="35245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89955" y="4805651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489955" y="479650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65115" y="1737360"/>
            <a:ext cx="6439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 화면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265115" y="2011680"/>
            <a:ext cx="64392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매출차감 예산 집행 현황을 월 · 분기 단위로 추적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대비 초과 집행 항목을 자동 강조해 예산 리스크 조기 감지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65115" y="2999232"/>
            <a:ext cx="6439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265115" y="3273552"/>
            <a:ext cx="643920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월 · 분기 집행률 KPI — 수량 · YoY · Delta 동반 표시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사업부(DIV) × Check Level별 예산 · 승인 · 진행 · 지급 매트릭스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집행률 이상치 자동 하이라이트 (예: 계획 대비 449% 초과 건)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65115" y="4663440"/>
            <a:ext cx="64392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포인트 — 화면 속 숫자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265115" y="4956048"/>
            <a:ext cx="3137306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65115" y="5001768"/>
            <a:ext cx="3137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18.2%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265115" y="5330952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집행률 (26.02)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567014" y="4956048"/>
            <a:ext cx="3137306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67014" y="5001768"/>
            <a:ext cx="3137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449%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567014" y="5330952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자동 감지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265115" y="6355080"/>
            <a:ext cx="6439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초과 집행 조기 감지 · 계획 대비 관리 정착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929384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 기획 후 확정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87752" y="1024128"/>
            <a:ext cx="886968" cy="274320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/>
        </p:spPr>
      </p:sp>
      <p:sp>
        <p:nvSpPr>
          <p:cNvPr id="7" name="Text 5"/>
          <p:cNvSpPr/>
          <p:nvPr/>
        </p:nvSpPr>
        <p:spPr>
          <a:xfrm>
            <a:off x="2587752" y="102412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중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03320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맥락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담당 조직 예상 (기획 시 확정)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19072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기획 진행 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확보 완료 → 금주 화면 설계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73736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영역이 필요한 이유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011680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4개 영역은 업무 프로세스(결재 · 클레임 · 채권 · 예산) 관점의 분석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요건 수렴 결과, 거래선(Customer) 축으로 모아 보는 관점 필요 확인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99923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상태와 계획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3273552"/>
            <a:ext cx="7086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요건 정의 완료 — 화면 구성 · 데이터 항목 · 인터랙션 설계 착수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 후 목업 데이터 기반 화면 선행 개발 (기존 영역과 동일 방식)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영역의 거래선 데이터(예: Claim by Customer)와 연계 검토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6053328"/>
            <a:ext cx="7086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화면 구성은 기획 완료 후 차주 보고에서 공유 예정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635508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단위 리스크 · 기회의 통합 파악 (기획 확정 후 구체화)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2026-07-20T10:31:43Z</dcterms:created>
  <dcterms:modified xsi:type="dcterms:W3CDTF">2026-07-20T10:31:43Z</dcterms:modified>
</cp:coreProperties>
</file>