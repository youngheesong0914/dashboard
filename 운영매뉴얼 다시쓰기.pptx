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1~3장(서비스 개요, 사용자·채널, 전체 구성도)에 이어 4장은 6개 화면 각각의 동작을 코드 검증 기준으로 설명. 목차 칩에 국문 꼬리표를 달아 화면명을 처음 보는 독자도 어떤 화면인지 알 수 있게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4장 전체의 독해 기반. ①~⑤ 골격을 먼저 잡고, 카드 6개는 각 규칙이 운영자 눈에 어떻게 보이는지(화면마다 필터가 다른 이유, 데이터가 안 바뀌는 이유, 첫 Excel이 느린 이유, 로그 식별 방법)까지 연결. 하단 표기 안내는 이후 모든 장에 적용.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배경지식 없는 독자 기준: “원천”이 무슨 뜻인지(선택지·공유값이 여기서 만들어짐), 탭 전환이 왜 즉시인지(동시 수신), Company/BA가 왜 Apply 없이 반영되는지(클라이언트 필터)를 인과로 연결. BA=Business Area 풀이는 여기서 최초 1회.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영문 필드명(receivedAt/submittedAt)에 국문 병기, Stage 정렬이 업무 순서라는 점을 “이상해 보여도 정상”으로 명시. 캐시 카드는 증상(안 바뀜)→원인(월 조합 캐시)→정상 판정 순. 배포 시 화면 캡처 추가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L/T 정의를 화면 최상단에 배치 — 이 화면 전체가 이 개념 위에 서 있음. by Customer 기본 토글(평균 초과만)을 문의 지점으로 승격. 주의 카드는 증상 문장으로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정의(연체 조건 모니터링)를 부제로 올리고, 표 3개가 행 선택으로 연동된다는 사용 흐름을 명시. bukrs/gsper는 SAP 필드명임을 병기해 로그 대조 시 혼란 방지.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streamApi/JWT는 “별도 통로”라는 운영 의미(부분 장애 가능, 로그 두 곳 확인)로 번역. SD Type/Status의 null/[] 구분은 개발 문법 대신 사용자 행동(안 건드림/일부 체크/전부 해제)으로 설명 — 전부 해제 시 0건이 정상이라는 게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SUMMARY는 “행/열이 무엇인지”부터, DETAIL은 “아래만 바뀌고 위는 그대로”라는 눈에 보이는 결과로 설명. 앰버 카드는 헬프데스크 스크립트로 그대로 사용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개념 정의를 부제에 배치. “2개 API 병렬”은 “차트와 표를 동시에 불러옴”으로, “실패 허용”은 증상(하위 선택지만 비어 보임)으로 번역. TIM 약어의 정식 풀이는 현업 확인 필요 — 확인되면 병기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앰버 카드를 증상 문장으로 시작 — 접수될 문의 문구 그대로. Company/BA 카드에는 “다른 화면에도 적용됨”이라는 파급 효과를 명시. TIM 약어 풀이는 현업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계단 = 윗 단 Apply 없이는 아랫 단이 비활성. 2·3번은 기본 선택이 없어 “표가 안 보인다” 문의 → 선택 후 Apply 안내. 2번 선택지가 1번 화면과 다를 수 있는 이유(실제 결과에 등장한 계정만)를 정상 동작으로 명시.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초기화의 이유(계정코드가 BA 간 중복 가능)까지 명시해 “왜 부분 유지가 안 되냐”는 2차 문의 예방. AI 카드는 “Insight에 모든 고객이 안 나오는 게 정상”이라는 결론 문장으로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맨 위 “화면 역할” 행을 추가해 치트시트만 봐도 각 화면이 뭐 하는 곳인지 알 수 있게 함. 인쇄해서 헬프데스크 옆에 두는 용도.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상세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역할 · 필터 · 화면 구성 · 운영 주의사항  —  각 화면의 실제 JS 소스(SALES2/frontend/static/*.js)를 읽고 검증한 내용 기준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379476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4-0  공통 동작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화면의 기반 규칙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12464" y="379476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77056" y="379476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  Approval Review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결재(공제 승인) 현황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01968" y="379476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379476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  Claim L/T Analysis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처리기간 분석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491472" y="379476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56064" y="379476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  Expired Open Conditions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연체 조건 현황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93776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  Target Plan Budget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대비 실행 현황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12464" y="493776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493776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  Analysis by Customer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 분석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01968" y="493776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93776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4-6  Analysis by Product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상품별 분석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91472" y="4937760"/>
            <a:ext cx="2615184" cy="868680"/>
          </a:xfrm>
          <a:prstGeom prst="roundRect">
            <a:avLst>
              <a:gd name="adj" fmla="val 7368"/>
            </a:avLst>
          </a:prstGeom>
          <a:solidFill>
            <a:srgbClr val="243B66"/>
          </a:solidFill>
          <a:ln w="9525">
            <a:solidFill>
              <a:srgbClr val="3A52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493776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4-7  화면 간 비교 요약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문의 대응 치트시트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동작 — 6개 화면이 공유하는 기반 규칙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상세를 읽기 전에: 모든 화면이 아래 같은 골격으로 움직입니다.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필터 결정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(공유값 상속 포함)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1435608"/>
            <a:ext cx="201168" cy="182880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117043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프록시 JSP 경유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API로 조회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28032" y="1435608"/>
            <a:ext cx="201168" cy="182880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4064" y="117043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결과를 브라우저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캐시에 저장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41464" y="1435608"/>
            <a:ext cx="201168" cy="182880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97496" y="117043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AI Insight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454896" y="1435608"/>
            <a:ext cx="201168" cy="182880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117043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D9E4F5"/>
          </a:solidFill>
          <a:ln w="9525">
            <a:solidFill>
              <a:srgbClr val="D7DEE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Excel은 브라우저에서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생성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267712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2382012"/>
            <a:ext cx="246888" cy="2468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43584" y="22677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조회 방식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4944" y="2834640"/>
            <a:ext cx="3099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화면의 조회는 AI 플랫폼의 Chat API 한 종류로 이뤄집니다. 요청에 담는 모델 ID가 “어떤 데이터를 달라”는 선택 키 역할. 브라우저가 직접 부르지 않고 화면별 프록시 JSP(서버 측 중계 창구)를 거칩니다.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06824" y="2103120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07992" y="2267712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1" name="Image 1" descr="/home/claude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92" y="2382012"/>
            <a:ext cx="246888" cy="2468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93208" y="22677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필터 (Company / BA)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44568" y="2834640"/>
            <a:ext cx="3099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화면에서 고른 Company/BA(회사/사업부)는 다른 화면에도 이어집니다. 선택지·공유값의 원천은 Approval 화면의 조회 결과. 단, 각 화면은 자기 마지막 적용값을 먼저 쓰고 없을 때만 공유값 사용 → 화면마다 필터가 달라 보일 수 있는 이유.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156448" y="2103120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57616" y="2267712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6" name="Image 2" descr="/home/claude/icon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2382012"/>
            <a:ext cx="246888" cy="2468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942832" y="22677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결과 캐시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8394192" y="2834640"/>
            <a:ext cx="3099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결과는 필터 조합으로 만든 키(cacheKey, ‘지문’)와 함께 브라우저 탭 저장소(sessionStorage)에 보관. 같은 탭·같은 조건이면 서버 재조회 없이 캐시를 표시하고, 탭을 닫으면 사라짐 → “데이터가 안 바뀐다” 문의의 1차 확인 지점.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57200" y="4242816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58368" y="440740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1" name="Image 3" descr="/home/claude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521708"/>
            <a:ext cx="246888" cy="2468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43584" y="440740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자동 생성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94944" y="4974336"/>
            <a:ext cx="3099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조회가 끝나면 화면 요약 코멘트가 버튼 없이 자동 생성됩니다. 원본 전체가 아니라 프론트가 계산한 핵심 통계(data_front)만 AI에 전달하고, 같은 조건이면 이전 결과를 재사용. 예외: Approval 화면에는 없음(설계).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4306824" y="4242816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507992" y="440740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6" name="Image 4" descr="/home/claude/icons/downlo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292" y="4521708"/>
            <a:ext cx="246888" cy="2468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93208" y="440740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Download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544568" y="4974336"/>
            <a:ext cx="3099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파일은 서버가 아니라 브라우저가 화면에 조회된 데이터로 직접 XLSX를 만듭니다. 생성 라이브러리(ExcelJS, 950KB)는 첫 클릭 때 내려받아 첫 다운로드만 잠깐 느릴 수 있음 — 정상.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8156448" y="4242816"/>
            <a:ext cx="3575304" cy="1938528"/>
          </a:xfrm>
          <a:prstGeom prst="roundRect">
            <a:avLst>
              <a:gd name="adj" fmla="val 4245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357616" y="440740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41" name="Image 5" descr="/home/claude/icons/sh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916" y="4521708"/>
            <a:ext cx="246888" cy="2468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42832" y="440740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AI Insight 모델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8394192" y="4974336"/>
            <a:ext cx="30998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Insight는 claim·overdue·budget·customer·product 5개 화면이 모델 ID 하나를 공유하고, 요청의 dashboard 필드로 화면을 구분 → 로그에서 화면을 찾을 땐 모델 ID가 아니라 dashboard 값으로 식별.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457200" y="623620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안내   </a:t>
            </a:r>
            <a:pPr indent="0" marL="0">
              <a:buNone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= 내림차순(큰 값부터)  ·  “A &gt; B” = A를 우선 사용  ·  K = 천 단위  ·  지문 = 필터 조합을 문자열로 만든 캐시 키(cacheKey)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 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결재(공제 승인) 현황 — 역할 · 데이터 로딩 · 필터 동작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98710" y="347472"/>
            <a:ext cx="1933042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approval.js · proxy.jsp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98448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 문서(공제 승인) 현황 대시보드 — 전체 서비스 필터의 “원천”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D9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5개 화면이 쓰는 Company/BA 선택지와 공유 필터값이 이 화면의 조회 결과로 만들어짐 → 다른 화면의 필터 이상을 추적할 때 출발점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로딩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2633472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내 미결함(approval_inbox) + 전체(approval_all)를 한 번의 조회로 동시 수신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그래서 Inbox ↔ All 탭 전환에 서버 왕복이 없음(즉시 전환)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필터 선택지·공유값 생성: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조회 결과로 sd.filter(공유 필터값) · sd.filterMeta(선택지 목록) · sd.products(Division 목록)가 저장됨 — 4-0 “공유 필터”의 원천이 이 동작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6758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동작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86784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537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 Month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기준 월. Apply 버튼은 월 변경 전용 — 눌러야 해당 월로 재조회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 / BA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/ 사업부(Business Area). 이미 받아둔 데이터를 화면에서 걸러내는 방식이라 Apply 없이 변경 즉시 차트·테이블·탭 건수에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결재 유형 — CREATE(신규) / CHANGE(변경) / CLAIM(클레임). 차트 막대 클릭 또는 드롭다운으로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Risk type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플래그 유형. 차트 행 클릭 또는 드롭다운으로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결재 진행 상태(APP_STATUS) — All 뷰에서만 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Queue 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범위 — All(전체) / Risk only(리스크 건만) / Clean(리스크 없는 건만)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 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· 인터랙션 · 캐시 · 운영 주의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98710" y="347472"/>
            <a:ext cx="1933042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approval.js · proxy.jsp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5806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Inbox / All 탭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내 미결함 / 전체 (건수 표시)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위험 경고 배너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“N items carry risk flags”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플래그가 있는 건수 안내 — Inbox 뷰에서만 표시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Risk by stage 막대 차트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결재 유형별 건수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위 빨강 = 리스크 있음, 아래 = 정상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Risk by type 표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리스크 유형별 건수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Item list 테이블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결재 문서 목록, 열 정렬 가능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정렬: Inbox=받은 시각(receivedAt)↓ · All=상신 시각(submittedAt)↓ / Stage 열은 가나다순이 아니라 업무 순서(CREATE→CHANGE→CLAIM)로 정렬 — 이상해 보여도 정상 / Risk 열은 플래그 개수순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행 클릭 → 결재 문서 상세 리포트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approval_review_fetch_report 모델이 HTML 리포트를 받아 화면에 표시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Excel Download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1188720"/>
            <a:ext cx="5056632" cy="1325880"/>
          </a:xfrm>
          <a:prstGeom prst="roundRect">
            <a:avLst>
              <a:gd name="adj" fmla="val 6207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325880"/>
            <a:ext cx="4599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인터랙션 — 차트가 곧 필터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막대·리스크 행을 클릭하면 아래 목록이 그 조건으로 걸러지고, 같은 항목을 다시 클릭하면 해제됩니다.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2697480"/>
            <a:ext cx="5056632" cy="1417320"/>
          </a:xfrm>
          <a:prstGeom prst="roundRect">
            <a:avLst>
              <a:gd name="adj" fmla="val 580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834640"/>
            <a:ext cx="4599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— 안 바뀌는 게 정상인 경우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+ 월({userId, period}) 조합별로 저장. 다른 화면에 다녀와도 같은 월이면 재조회 없이 그대로 표시됩니다.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월을 바꾸면 반드시 재조회가 일어납니다.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4297680"/>
            <a:ext cx="5056632" cy="1600200"/>
          </a:xfrm>
          <a:prstGeom prst="roundRect">
            <a:avLst>
              <a:gd name="adj" fmla="val 5143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94576" y="4517136"/>
            <a:ext cx="384048" cy="384048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24928" y="4462272"/>
            <a:ext cx="4050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주의 — AI Insight 없음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화면 중 유일하게 AI 요약 코멘트가 없는 화면입니다. “Approval에는 왜 Insight가 없나요” 문의 → 누락·오류가 아니라 설계임을 안내.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처리 리드타임 분석 — 어디서 얼마나 지연되는지 보는 화면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84741" y="347472"/>
            <a:ext cx="2147011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claim.js · claim-proxy.jsp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704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L/T(Lead Time)   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1건을 접수부터 완료까지 처리하는 데 걸린 일수. 지연 원인은 고객 측(Customer Delay) / 자사 측(Samsung Delay)으로 나눠서 봅니다.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2267712"/>
            <a:ext cx="5989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요약 카드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전체 평균 L/T + Customer / Samsung Delay 일수·비중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12개월 추이 차트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당월/전월 평균 비교 · 12개월 중 최고치 여부 · 추세 방향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by Customer 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거래선별 평균 L/T, 큰 값부터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“회사 평균보다 느린 거래선만”(Over Company Avg) 표시 — 전체는 All Customers로 전환. “왜 일부 거래선만 나오죠” 문의 지점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AI Insight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핵심 통계를 압축해 요약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“3월 평균 L/T 63.9일, Customer Delay 49.1일이 주요 병목…”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XLSX 다운로드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by Customer 표 (9개 컬럼 · 2단 헤더)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920240"/>
            <a:ext cx="4873752" cy="1234440"/>
          </a:xfrm>
          <a:prstGeom prst="roundRect">
            <a:avLst>
              <a:gd name="adj" fmla="val 6667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048256"/>
            <a:ext cx="4416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경로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claim_lead_time_main</a:t>
            </a:r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대시보드 데이터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cl_lt_ai_insight</a:t>
            </a:r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AI Insight (공용 모델)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api/claim-proxy.jsp 경유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3337560"/>
            <a:ext cx="4873752" cy="1188720"/>
          </a:xfrm>
          <a:prstGeom prst="roundRect">
            <a:avLst>
              <a:gd name="adj" fmla="val 692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3465576"/>
            <a:ext cx="4416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Month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 화면 마지막 적용값 &gt; 당월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/ BA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공유 필터 이어받기 (첫 진입 시)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4709160"/>
            <a:ext cx="4873752" cy="1417320"/>
          </a:xfrm>
          <a:prstGeom prst="roundRect">
            <a:avLst>
              <a:gd name="adj" fmla="val 5806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4928616"/>
            <a:ext cx="384048" cy="384048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07808" y="4873752"/>
            <a:ext cx="3867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주의 — 월이 안 이어져요?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Approval에서 3월을 보다가 넘어와도 이 화면은 “마지막에 보던 월”로 열립니다. 화면 간 월 덮임을 막기 위한 의도된 설계(버그 아님) — 공유되는 건 Company/BA뿐.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유효기간이 지났는데 아직 정리되지 않은 공제 조건(연체)과 그 금액 — 항상 “지금 시점” 스냅샷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299448" y="347472"/>
            <a:ext cx="2432304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overdue.js · expired-proxy.jsp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 —  표 3개는 행 선택으로 연결됩니다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5989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By Division 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사업 부문별 연체금액(overdueAmt), 큰 값부터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K(천)는 표 주석으로 표기 · 미정리 기간(aging) 구간 컬럼 포함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By Customer 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거래선별 상세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 Division에서 행을 선택하면 그 Division의 거래선별로 펼쳐짐(연동) · 총 연체금액 큰 순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By Condition 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개별 조건 목록, 경과일수(delayDays) 큰 순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API(expired_cd_fetch_odata_extra)로 조회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AI Insight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전처리 통계를 요약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미정리 잔액(충당 Balance) / 90일 이상 금액·비중 / Division별 90일+ 순위 / 상위 거래선 / 2년 이상 경과 금액·건수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Excel Download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188720"/>
            <a:ext cx="4873752" cy="2286000"/>
          </a:xfrm>
          <a:prstGeom prst="roundRect">
            <a:avLst>
              <a:gd name="adj" fmla="val 36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316736"/>
            <a:ext cx="44165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3개  ·  api/expired-proxy.jsp 경유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expired_conditions_main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대시보드 (By Division / By Customer)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expired_cd_fetch_odata_extra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 Condition 표 전용 (별도 API)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expired_ai_insight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(공용 모델)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3657600"/>
            <a:ext cx="4873752" cy="1234440"/>
          </a:xfrm>
          <a:prstGeom prst="roundRect">
            <a:avLst>
              <a:gd name="adj" fmla="val 6667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3785616"/>
            <a:ext cx="4416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· 캐시</a:t>
            </a:r>
            <a:endParaRPr lang="en-US" sz="1250" dirty="0"/>
          </a:p>
          <a:p>
            <a:pPr indent="0" marL="0">
              <a:lnSpc>
                <a:spcPct val="113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필터는 Company / BA 뿐 — 기간 선택이 아예 없음.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키도 {userId, bukrs, gsper}(사용자+Company+BA, SAP 필드명) 만으로 구성.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5074920"/>
            <a:ext cx="4873752" cy="868680"/>
          </a:xfrm>
          <a:prstGeom prst="roundRect">
            <a:avLst>
              <a:gd name="adj" fmla="val 9474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7456" y="5312664"/>
            <a:ext cx="384048" cy="384048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7808" y="5175504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“지난달 기준으로 보고 싶다” 문의 → 이 화면은 항상 현재 시점만 보여주는 스냅샷 전용. 과거 시점 조회 불가로 안내.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Budget  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목표(Target Plan) 대비 실행 현황 — 역할 · 호출 경로 · 필터 동작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97235" y="347472"/>
            <a:ext cx="934517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521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 — 한 화면이 두 개의 프록시 경로 사용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2103120" cy="178308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36192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budget.js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1920240"/>
            <a:ext cx="1280160" cy="0"/>
          </a:xfrm>
          <a:prstGeom prst="line">
            <a:avLst/>
          </a:prstGeom>
          <a:noFill/>
          <a:ln w="19050">
            <a:solidFill>
              <a:srgbClr val="6A748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2944368"/>
            <a:ext cx="1280160" cy="0"/>
          </a:xfrm>
          <a:prstGeom prst="line">
            <a:avLst/>
          </a:prstGeom>
          <a:noFill/>
          <a:ln w="19050">
            <a:solidFill>
              <a:srgbClr val="6A748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0" y="1536192"/>
            <a:ext cx="7616952" cy="777240"/>
          </a:xfrm>
          <a:prstGeom prst="roundRect">
            <a:avLst>
              <a:gd name="adj" fmla="val 10588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53619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데이터 (모델 REPA958…)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proxy.jsp 경유 — 스트리밍 방식(streamApi) · 인증 토큰(JWT) 첨부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0" y="2560320"/>
            <a:ext cx="7616952" cy="777240"/>
          </a:xfrm>
          <a:prstGeom prst="roundRect">
            <a:avLst>
              <a:gd name="adj" fmla="val 10588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5603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(공용 모델)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api/claim-proxy.jsp 경유 — 다른 화면들과 같은 통로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3401568"/>
            <a:ext cx="7616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대시보드는 뜨는데 Insight만 안 뜨는(혹은 반대) 상황이 가능 — 장애·로그 확인 시 두 경로를 각각 볼 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7673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동작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78224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354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없음 — 항상 당월 기준으로 자동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 / BA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화면에서 마지막으로 적용한 값 &gt; 공유 필터 (4-0 규칙)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DETAIL 목록에만 적용되는 로컬 필터 — 상단 카드·SUMMARY 표는 항상 전체 기준. 재진입 시 이전 선택을 복원하지 않고 전체로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SD Type / 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다중선택 — 안 건드리면 전체 조회 / 일부만 체크하면 그 값만 / 전부 해제하면 “없음(None)”으로 조회되어 결과 0건 → “0건이에요” 문의의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Budget  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· 운영 주의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97235" y="347472"/>
            <a:ext cx="934517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5897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상단 카드</a:t>
            </a:r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실행률(Execution %) · 추정(Estimated) 금액 등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SUMMARY 표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목표/실행 요약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= Division·SD Type, 열 = 최근 6개월 + 6개 분기가 나란히(3단 병합 헤더) / 기본 정렬: 당월 목표액(month_target) 큰 순 / XLSX 다운로드(병합 헤더 그대로)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DETAIL Condition List</a:t>
            </a:r>
            <a:pPr indent="0" marL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개별 조건 목록</a:t>
            </a:r>
            <a:endParaRPr lang="en-US" sz="1200" dirty="0"/>
          </a:p>
          <a:p>
            <a:pPr lvl="1" marL="304800" indent="-152400">
              <a:lnSpc>
                <a:spcPct val="112000"/>
              </a:lnSpc>
              <a:spcAft>
                <a:spcPts val="1100"/>
              </a:spcAft>
              <a:buSzPct val="100000"/>
              <a:buChar char="–"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금액(amount) 큰 순 · 한 번에 100행 + Show more로 추가 표시 / Division을 바꾸면 이 목록만 다시 조회 — 위(카드·SUMMARY)는 그대로</a:t>
            </a:r>
            <a:endParaRPr lang="en-US" sz="12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AI Insight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1188720"/>
            <a:ext cx="4965192" cy="2926080"/>
          </a:xfrm>
          <a:prstGeom prst="roundRect">
            <a:avLst>
              <a:gd name="adj" fmla="val 2813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4304" y="1426464"/>
            <a:ext cx="420624" cy="420624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1389888"/>
            <a:ext cx="3867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주의 — “Division을 바꿨는데 카드가 안 바뀌어요”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동작입니다 (버그 아님)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Division은 DETAIL 전용 필터 — 상단 카드와 SUMMARY 표는 항상 전체 기준으로 유지됩니다.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Division 변경 시 DETAIL 목록만 다시 조회되어 부분 갱신됩니다.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 해당 문의 접수 시 → 설계 동작임을 안내하고 종결.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4343400"/>
            <a:ext cx="4965192" cy="1417320"/>
          </a:xfrm>
          <a:prstGeom prst="roundRect">
            <a:avLst>
              <a:gd name="adj" fmla="val 580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4498848"/>
            <a:ext cx="4507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선택이 없어 항상 당월 기준 조회. SD Type/Status를 전부 해제하면 “없음”으로 조회되어 0건이 정상 — 앞 장(①)의 필터 표 참조.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  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 분석 — “Stage” = 단계마다 자기 필터·Apply가 있고, 윗 단계를 조회해야 아랫 단계가 의미 있는 구조 (Apply 3개 · 모델 7개)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56802" y="347472"/>
            <a:ext cx="2574950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customer.js · customer-proxy.jsp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704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Month   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= 한국시간 기준 전월  ·  선택 범위 = 전월 ~ 6개월 전(당월 제외, 총 6개)  ·  저장된 월이 범위를 벗어나면 전월로 리셋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93392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21992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9339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진입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596896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이전 선택·목록 캐시 복원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(API 호출 없음)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거래선(Account) 목록 조회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드롭다운 채움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95244" y="3529584"/>
            <a:ext cx="219456" cy="219456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6704" y="1993392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6704" y="1993392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6704" y="2221992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99339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  ·  Apply 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11296" y="2596896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Customer(1개) + Division(여러 개) 선택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월별 추이 + 활동별(By Activity) 표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동시에 조회 (2개 API 병렬)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필터 선택지 조회도 병렬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실패해도 차트·표는 정상, 하위 선택지만 비어 보일 수 있음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AI Insight 자동 생성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두 데이터가 다 도착한 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4748" y="3529584"/>
            <a:ext cx="219456" cy="219456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993392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993392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2221992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199339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  ·  Apply 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596896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Product + 활동 유형(TIM Activity) 선택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진행 중 SPOT 조건 목록 조회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74252" y="3529584"/>
            <a:ext cx="219456" cy="219456"/>
          </a:xfrm>
          <a:prstGeom prst="right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25712" y="1993392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25712" y="1993392"/>
            <a:ext cx="260604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25712" y="2221992"/>
            <a:ext cx="2606040" cy="228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199339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3  ·  Apply 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90304" y="2596896"/>
            <a:ext cx="227685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비교 기간 A/B + Product 선택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판매 실적(Sell-out) 비교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기본 A=당월 1일~말일, B=전월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도넛 차트(비중/금액 전환) · A/B 목록 탭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Stage 3 전용 AI Insight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다음 장: 필터를 바꿨을 때 하위 단계가 어떻게 초기화되는지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  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필터를 바꾸면 무엇이 초기화되는가 · 화면 요소 상세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4589" y="347472"/>
            <a:ext cx="1077163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customer.js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77256" cy="2103120"/>
          </a:xfrm>
          <a:prstGeom prst="roundRect">
            <a:avLst>
              <a:gd name="adj" fmla="val 3913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26464"/>
            <a:ext cx="402336" cy="402336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45079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“Stage 2·3 표가 비고 선택이 풀렸어요”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1 필터(Customer/Division)를 바꾸면 하위 캐시(SPOT · Sell-out · 선택지)가 모두 무효화되어 생기는 정상 동작입니다.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기준이 다른 데이터가 섞여 보이는 것을 막기 위한 설계 — 버그 아님.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4496" y="1207008"/>
            <a:ext cx="5477256" cy="2103120"/>
          </a:xfrm>
          <a:prstGeom prst="roundRect">
            <a:avLst>
              <a:gd name="adj" fmla="val 391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389888"/>
            <a:ext cx="49651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/ BA 변경 시</a:t>
            </a:r>
            <a:endParaRPr lang="en-US" sz="1300" dirty="0"/>
          </a:p>
          <a:p>
            <a:pPr marL="127000" indent="-127000">
              <a:lnSpc>
                <a:spcPct val="116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즉시 공유 필터(sd.filter)에 저장 → 다른 화면에도 그 값이 적용됨</a:t>
            </a:r>
            <a:endParaRPr lang="en-US" sz="1300" dirty="0"/>
          </a:p>
          <a:p>
            <a:pPr marL="127000" indent="-127000">
              <a:lnSpc>
                <a:spcPct val="116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거래선(Account) 목록 다시 조회</a:t>
            </a:r>
            <a:endParaRPr lang="en-US" sz="1300" dirty="0"/>
          </a:p>
          <a:p>
            <a:pPr marL="127000" indent="-127000">
              <a:lnSpc>
                <a:spcPct val="116000"/>
              </a:lnSpc>
              <a:buSzPct val="100000"/>
              <a:buChar char="▪"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선택·캐시 전부 초기화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477256" cy="2103120"/>
          </a:xfrm>
          <a:prstGeom prst="roundRect">
            <a:avLst>
              <a:gd name="adj" fmla="val 391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749040"/>
            <a:ext cx="49651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 Activity 표 — 4단계 계층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→ 세부 활동으로 접혀 들어가는 계층형 표. 3단계 아래는 기본 접힘 — 부모 행 클릭으로 펼침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접힘 상태는 저장하지 않음 → 재진입하면 다시 접혀 있음(정상, 문의 시 설계 안내)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4496" y="3566160"/>
            <a:ext cx="5477256" cy="2103120"/>
          </a:xfrm>
          <a:prstGeom prst="roundRect">
            <a:avLst>
              <a:gd name="adj" fmla="val 391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3749040"/>
            <a:ext cx="49651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· AI Insight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Excel: 판매 실적(Sell-out) 조건 목록을 브라우저에서 직접 XLSX 생성 (4-0 공통 동작)</a:t>
            </a:r>
            <a:endParaRPr lang="en-US" sz="13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Insight: Stage별로 생성되어 화면 전체 최대 3개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Product  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상품(Division/Product) 관점 프로모션 금액 분석 — ①②③ 계단 구조: 윗 단을 Apply해야 아랫 단이 활성화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299448" y="347472"/>
            <a:ext cx="2432304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product.js · product-proxy.jsp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548640"/>
          </a:xfrm>
          <a:prstGeom prst="roundRect">
            <a:avLst>
              <a:gd name="adj" fmla="val 150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진입   </a:t>
            </a:r>
            <a:pPr indent="0" marL="0">
              <a:buNone/>
            </a:pPr>
            <a:r>
              <a:rPr lang="en-US" sz="11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선택·목록 캐시 복원  +  Product 목록·거래선 목록 API 2개 병렬 호출  (거래선 목록은 Customer 화면과 같은 모델 사용)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595360" cy="1371600"/>
          </a:xfrm>
          <a:prstGeom prst="roundRect">
            <a:avLst>
              <a:gd name="adj" fmla="val 6000"/>
            </a:avLst>
          </a:prstGeom>
          <a:solidFill>
            <a:srgbClr val="D9E4F5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66544"/>
            <a:ext cx="384048" cy="384048"/>
          </a:xfrm>
          <a:prstGeom prst="ellipse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0391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필터 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2377440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회사/사업부(필수·공유값 상속) · Division · 기간(최근 12개월 범위, 기본 = 최근 12개월) · Product · Customer 선택 → Apply</a:t>
            </a:r>
            <a:endParaRPr lang="en-US" sz="10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프로모션 금액 조회 → 계정별/활동별(BY ACCOUNT / BY ACTIVITY) 카드 + 조건 상세(Condition Detail) 표시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기간을 바꿔 Apply하면 Product/Customer 선택지 목록도 다시 조회 — 선택지 자체가 달라질 수 있음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319272"/>
            <a:ext cx="201168" cy="173736"/>
          </a:xfrm>
          <a:prstGeom prst="down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520440"/>
            <a:ext cx="8595360" cy="1097280"/>
          </a:xfrm>
          <a:prstGeom prst="roundRect">
            <a:avLst>
              <a:gd name="adj" fmla="val 75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666744"/>
            <a:ext cx="384048" cy="384048"/>
          </a:xfrm>
          <a:prstGeom prst="ellipse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639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Detail 필터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397764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선택 없음 — 거래선(Account)·활동 유형(TIM Activity)을 고르고 Apply해야 표가 나타남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= 1번에서 고른 범위 중 실제 조회 결과에 등장한 계정만 → 1번에서 본 계정이 여기 목록에 없을 수 있음(정상)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4645152"/>
            <a:ext cx="201168" cy="173736"/>
          </a:xfrm>
          <a:prstGeom prst="downArrow">
            <a:avLst/>
          </a:prstGeom>
          <a:solidFill>
            <a:srgbClr val="6A7484"/>
          </a:solidFill>
          <a:ln w="12700">
            <a:solidFill>
              <a:srgbClr val="6A74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4846320"/>
            <a:ext cx="8595360" cy="1097280"/>
          </a:xfrm>
          <a:prstGeom prst="roundRect">
            <a:avLst>
              <a:gd name="adj" fmla="val 7500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992624"/>
            <a:ext cx="384048" cy="384048"/>
          </a:xfrm>
          <a:prstGeom prst="ellipse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49651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Comparison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94760" y="530352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선택 없음 — 고객 A/B를 고르고 Apply해야 비교 차트·목록이 나타남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선택지 = 2번과 동일한 계정 집합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6053328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Apply 순서:  ① → ② → 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Product  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 · 표기 · AI Insight · Excel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25912" y="34747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EDF1F8"/>
          </a:solidFill>
          <a:ln>
            <a:solidFill>
              <a:srgbClr val="D7DE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43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product.js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806440" cy="4663440"/>
          </a:xfrm>
          <a:prstGeom prst="roundRect">
            <a:avLst>
              <a:gd name="adj" fmla="val 1765"/>
            </a:avLst>
          </a:prstGeom>
          <a:solidFill>
            <a:srgbClr val="FBF3E3"/>
          </a:solidFill>
          <a:ln w="9525">
            <a:solidFill>
              <a:srgbClr val="E8D4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444752"/>
            <a:ext cx="420624" cy="420624"/>
          </a:xfrm>
          <a:prstGeom prst="ellipse">
            <a:avLst/>
          </a:prstGeom>
          <a:solidFill>
            <a:srgbClr val="B97A1F"/>
          </a:solidFill>
          <a:ln>
            <a:solidFill>
              <a:srgbClr val="B97A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426464"/>
            <a:ext cx="4800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B97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 — 상위 Apply는 하위를 초기화</a:t>
            </a:r>
            <a:endParaRPr lang="en-US" sz="1500" dirty="0"/>
          </a:p>
          <a:p>
            <a:pPr marL="127000" indent="-127000">
              <a:lnSpc>
                <a:spcPct val="12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 Apply 시 2·3번의 선택값까지 전부 무효화</a:t>
            </a:r>
            <a:endParaRPr lang="en-US" sz="1500" dirty="0"/>
          </a:p>
          <a:p>
            <a:pPr lvl="1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1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선택지의 원천이 바뀌므로 이전 선택은 의미가 없어지기 때문.</a:t>
            </a:r>
            <a:endParaRPr lang="en-US" sz="1500" dirty="0"/>
          </a:p>
          <a:p>
            <a:pPr marL="127000" indent="-127000">
              <a:lnSpc>
                <a:spcPct val="12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Company/BA 변경 시에도 하위 전체 초기화</a:t>
            </a:r>
            <a:endParaRPr lang="en-US" sz="1500" dirty="0"/>
          </a:p>
          <a:p>
            <a:pPr lvl="1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1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계정코드가 사업부(BA) 간에 겹칠 수 있어 “목록에 없으면 지운다” 같은 부분 유지로는 안전하지 않기 때문.</a:t>
            </a:r>
            <a:endParaRPr lang="en-US" sz="1500" dirty="0"/>
          </a:p>
          <a:p>
            <a:pPr marL="127000" indent="-127000">
              <a:lnSpc>
                <a:spcPct val="12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b="1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대응 — “2·3번 선택이 사라졌어요”</a:t>
            </a:r>
            <a:endParaRPr lang="en-US" sz="150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 Apply 또는 Company/BA 변경에 따른 정상 동작으로 안내.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1207008"/>
            <a:ext cx="5148072" cy="1417320"/>
          </a:xfrm>
          <a:prstGeom prst="roundRect">
            <a:avLst>
              <a:gd name="adj" fmla="val 5806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344168"/>
            <a:ext cx="46908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규칙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화면의 모든 수치는 소수 최대 1자리, 금액은 값 뒤에 K(천 단위) 명시.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1435F"/>
                </a:solidFill>
                <a:highlight>
                  <a:srgbClr val="EDF1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예: 84,479.8K EUR 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2807208"/>
            <a:ext cx="5148072" cy="1600200"/>
          </a:xfrm>
          <a:prstGeom prst="roundRect">
            <a:avLst>
              <a:gd name="adj" fmla="val 5143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944368"/>
            <a:ext cx="4690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— 요약해서 전달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데이터 전체가 아니라 상위 고객 2개 + 상위 활동 3개 + 나머지 합계로 줄여서 AI에 전달합니다.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전체를 주면 요점 없이 전부 나열되는 문제 방지 → Insight에 모든 고객이 안 나오는 게 정상.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4590288"/>
            <a:ext cx="5148072" cy="1280160"/>
          </a:xfrm>
          <a:prstGeom prst="roundRect">
            <a:avLst>
              <a:gd name="adj" fmla="val 6429"/>
            </a:avLst>
          </a:prstGeom>
          <a:solidFill>
            <a:srgbClr val="F1F5FA"/>
          </a:solidFill>
          <a:ln w="9525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4727448"/>
            <a:ext cx="46908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Excel — 2종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상세(Condition Detail) / 비교 목록(Comparison List) 둘 다 브라우저에서 직접 XLSX 생성.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49808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solidFill>
              <a:srgbClr val="1B2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353312" y="21945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간 비교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7589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문의 대응용 치트시트 — 6개 화면의 핵심 차이를 한눈에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700784"/>
                <a:gridCol w="1627632"/>
                <a:gridCol w="1481328"/>
                <a:gridCol w="1700784"/>
                <a:gridCol w="1874520"/>
                <a:gridCol w="165506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 L/T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역할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결재(공제 승인)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클레임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처리기간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연체 조건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대비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현황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고객별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상품별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overdue.js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프록시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proxy.jsp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proxy.jsp +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product-proxy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필터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 Month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(당월 기본)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 Month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(당월 기본)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(당월 자동)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 Month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(전월 기본·당월 제외)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Period 범위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(12개월)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Apply 버튼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 (월 전용)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(Stage별)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(①②③)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Insight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97A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(최대 3개)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(SUMMARY)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(Sell-out)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(2종)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특이사항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필터의 원천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Company/BA 즉시 적용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 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이어받지 않음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스냅샷 화면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 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Stage 변경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하위 초기화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1번 Apply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2·3번 초기화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굵은 주황 표기 = 문의가 잦을 것으로 예상되는 차이점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매뉴얼  ·  4. 기능별 상세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0528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4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2026-08-24T09:45:21Z</dcterms:created>
  <dcterms:modified xsi:type="dcterms:W3CDTF">2026-08-24T09:45:21Z</dcterms:modified>
</cp:coreProperties>
</file>