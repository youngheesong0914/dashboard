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1~3장(서비스 개요, 사용자·채널, 전체 구성도)에 이어 4장은 6개 화면 각각의 동작을 코드 검증 기준으로 설명. 4-0 공통 규칙을 먼저 읽고 화면별 장으로 진행.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공통 규칙 6개. 이후 화면별 장에서는 이 내용을 반복하지 않고 예외·차이만 설명. 특히 AI Insight 예외(Approval 없음)와 공유 필터 우선순위를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Approval은 필터의 원천 화면. Company/BA만 Apply 없이 즉시 반영된다는 점이 다른 화면과 다름(서버 미전송 클라이언트 필터). Base Month 변경만 Apply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구성 요소와 정렬 기본값. 실제 매뉴얼 배포 시 화면 캡처를 좌측 리스트 옆이나 별도 부록에 추가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공유 필터 중 Company/BA만 상속되고 월은 화면별 독립이라는 점이 문의 포인트. AI Insight 예시 문구는 실제 생성 형태 참고용.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 화면 중 유일하게 기간 개념이 없는 화면. 항상 현재 시점 스냅샷이므로 월 선택 관련 문의는 모두 설계 안내로 대응.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Budget만 대시보드(proxy.jsp, streamApi+JWT)와 AI Insight(claim-proxy)가 다른 경로를 탐. 장애 절체·로그 추적 시 두 경로를 각각 확인해야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빈번할 것으로 예상되는 문의(“카드가 안 바뀐다”)를 크게 배치. 헬프데스크 스크립트에 그대로 활용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Apply가 3개라는 점이 핵심 — 각 Stage가 독립 조회. Stage 1의 필터옵션 API는 실패해도 화면이 뜬다는 점(부분 실패 허용)도 장애 판단 시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무효화 규칙이 이 화면 문의의 대부분을 차지할 것 — “하위 선택이 사라졌다”는 상위 필터 변경의 정상 결과.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계단 구조: 상위 Apply 없이는 하위 옵션이 의미 없음. 2·3번은 기본 선택이 없어 “표가 안 보인다” 문의 → 선택 후 Apply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초기화의 이유(계정코드 BA 간 중복 가능)까지 매뉴얼에 명시해 두면 “왜 부분 유지가 안 되냐”는 2차 문의를 줄일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4.7 표를 요약. 인쇄해서 헬프데스크 옆에 두는 용도. 굵은 주황 셀이 화면별 예외 = 문의 다발 지점.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7830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기능별 상세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역할 · 필터 · 화면 구성 · 운영 주의사항  —  각 화면의 실제 JS 소스(SALES2/frontend/static/*.js)를 읽고 검증한 내용 기준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2615184" cy="658368"/>
          </a:xfrm>
          <a:prstGeom prst="roundRect">
            <a:avLst>
              <a:gd name="adj" fmla="val 9722"/>
            </a:avLst>
          </a:prstGeom>
          <a:solidFill>
            <a:srgbClr val="243B66"/>
          </a:solidFill>
          <a:ln w="9525">
            <a:solidFill>
              <a:srgbClr val="3A5288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4-0  공통 동작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712464" y="3977640"/>
            <a:ext cx="2615184" cy="658368"/>
          </a:xfrm>
          <a:prstGeom prst="roundRect">
            <a:avLst>
              <a:gd name="adj" fmla="val 9722"/>
            </a:avLst>
          </a:prstGeom>
          <a:solidFill>
            <a:srgbClr val="243B66"/>
          </a:solidFill>
          <a:ln w="9525">
            <a:solidFill>
              <a:srgbClr val="3A5288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  Approval Review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01968" y="3977640"/>
            <a:ext cx="2615184" cy="658368"/>
          </a:xfrm>
          <a:prstGeom prst="roundRect">
            <a:avLst>
              <a:gd name="adj" fmla="val 9722"/>
            </a:avLst>
          </a:prstGeom>
          <a:solidFill>
            <a:srgbClr val="243B66"/>
          </a:solidFill>
          <a:ln w="9525">
            <a:solidFill>
              <a:srgbClr val="3A5288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  Claim L/T Analysis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491472" y="3977640"/>
            <a:ext cx="2615184" cy="658368"/>
          </a:xfrm>
          <a:prstGeom prst="roundRect">
            <a:avLst>
              <a:gd name="adj" fmla="val 9722"/>
            </a:avLst>
          </a:prstGeom>
          <a:solidFill>
            <a:srgbClr val="243B66"/>
          </a:solidFill>
          <a:ln w="9525">
            <a:solidFill>
              <a:srgbClr val="3A5288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4-3  Expired Open Conditions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2615184" cy="658368"/>
          </a:xfrm>
          <a:prstGeom prst="roundRect">
            <a:avLst>
              <a:gd name="adj" fmla="val 9722"/>
            </a:avLst>
          </a:prstGeom>
          <a:solidFill>
            <a:srgbClr val="243B66"/>
          </a:solidFill>
          <a:ln w="9525">
            <a:solidFill>
              <a:srgbClr val="3A5288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4-4  Target Plan Budget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12464" y="4892040"/>
            <a:ext cx="2615184" cy="658368"/>
          </a:xfrm>
          <a:prstGeom prst="roundRect">
            <a:avLst>
              <a:gd name="adj" fmla="val 9722"/>
            </a:avLst>
          </a:prstGeom>
          <a:solidFill>
            <a:srgbClr val="243B66"/>
          </a:solidFill>
          <a:ln w="9525">
            <a:solidFill>
              <a:srgbClr val="3A5288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4-5  Analysis by Customer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01968" y="4892040"/>
            <a:ext cx="2615184" cy="658368"/>
          </a:xfrm>
          <a:prstGeom prst="roundRect">
            <a:avLst>
              <a:gd name="adj" fmla="val 9722"/>
            </a:avLst>
          </a:prstGeom>
          <a:solidFill>
            <a:srgbClr val="243B66"/>
          </a:solidFill>
          <a:ln w="9525">
            <a:solidFill>
              <a:srgbClr val="3A5288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4-6  Analysis by Product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491472" y="4892040"/>
            <a:ext cx="2615184" cy="658368"/>
          </a:xfrm>
          <a:prstGeom prst="roundRect">
            <a:avLst>
              <a:gd name="adj" fmla="val 9722"/>
            </a:avLst>
          </a:prstGeom>
          <a:solidFill>
            <a:srgbClr val="243B66"/>
          </a:solidFill>
          <a:ln w="9525">
            <a:solidFill>
              <a:srgbClr val="3A5288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4-7  화면 간 비교 요약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동작 — 6개 화면이 공유하는 기반 규칙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상세를 읽기 전에: 모든 화면에 동일하게 적용되는 동작입니다.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499616"/>
            <a:ext cx="512064" cy="51206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7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613916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99616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조회 방식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232" y="2148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화면이 Chat API 호출(화면별 프록시 JSP 경유). 모델 ID로 어떤 데이터를 받을지 구분.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06824" y="128016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499616"/>
            <a:ext cx="512064" cy="51206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2" name="Image 1" descr="/home/claude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1613916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1499616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필터 (Company / BA)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62856" y="2148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원천은 Approval 화면(sd.filter). 각 화면 우선순위: 이 화면 마지막 적용값 &gt; 공유 필터.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56448" y="1280160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75904" y="1499616"/>
            <a:ext cx="512064" cy="51206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7" name="Image 2" descr="/home/claude/icons/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4" y="1613916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25128" y="1499616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결과 캐시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412480" y="2148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조합의 지문(cacheKey)으로 sessionStorage에 저장. 같은 조건 재방문 시 재조회 없음.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904488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76656" y="4123944"/>
            <a:ext cx="512064" cy="51206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2" name="Image 3" descr="/home/claude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4238244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12394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자동 생성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13232" y="4773168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완료 후 자동 생성 — 별도 버튼 없음. 같은 지문이면 캐시 재사용, 프론트가 핵심 통계(data_front)만 전처리해 전달.  예외: Approval 화면에는 AI Insight 없음.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06824" y="3904488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26280" y="4123944"/>
            <a:ext cx="512064" cy="51206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7" name="Image 4" descr="/home/claude/icons/downlo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4238244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75504" y="412394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Download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62856" y="4773168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백엔드를 거치지 않고 브라우저에서 XLSX 직접 생성. ExcelJS(950KB)는 첫 다운로드 클릭 때 지연 로드.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56448" y="3904488"/>
            <a:ext cx="3575304" cy="2331720"/>
          </a:xfrm>
          <a:prstGeom prst="roundRect">
            <a:avLst>
              <a:gd name="adj" fmla="val 3529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75904" y="4123944"/>
            <a:ext cx="512064" cy="51206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2" name="Image 5" descr="/home/claude/icons/sh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204" y="4238244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25128" y="412394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AI Insight 모델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412480" y="4773168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claim·overdue·budget·customer·product 5개 화면이 같은 모델 ID 사용 — 백엔드가 dashboard 필드로 화면을 구분.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  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· 데이터 로딩 · 필터 동작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61804" y="347472"/>
            <a:ext cx="1869948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approval.js · proxy.jsp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16736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 문서(공제 승인) 현황 대시보드 — 전체 서비스 필터의 원천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필터(sd.filter) · 필터 옵션 목록(sd.filterMeta) · Division 목록(sd.products)을 이 화면의 조회 결과로 생성 → 나머지 5개 화면이 상속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로딩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26517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한 번의 조회로 두 데이터 동시 수신</a:t>
            </a:r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approval_inbox(내 미결함) + approval_all(전체)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Inbox ↔ All 탭 전환</a:t>
            </a:r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서버 재조회 없이 클라이언트에서 처리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동작  (approval.js 헤더 주석 기준)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67328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53719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 Month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Apply 버튼은 월 변경 전용 — Apply를 눌러야 해당 월로 재조회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 / BA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서버에 보내지 않는 클라이언트 필터 — Apply 없이 변경 즉시 차트·테이블·탭 카운트에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CREATE / CHANGE / CLAIM  (차트 막대 클릭 또는 드롭다운)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Risk type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 유형  (차트 행 클릭 또는 드롭다운)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APP_STATUS 값 — All 뷰에서만 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Queue 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All / Risk only / Clean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  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 · 인터랙션 · 캐시 · 운영 주의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61804" y="347472"/>
            <a:ext cx="1869948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approval.js · proxy.jsp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5806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Inbox / All 탭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(건수 표시)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위험 경고 배너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“N items carry risk flags”</a:t>
            </a:r>
            <a:endParaRPr lang="en-US" sz="125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Inbox 뷰에서만 표시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Risk by stage 막대 차트</a:t>
            </a:r>
            <a:endParaRPr lang="en-US" sz="125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위 빨강 = risk, 아래 = normal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Risk by type 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Item list 테이블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정렬 가능</a:t>
            </a:r>
            <a:endParaRPr lang="en-US" sz="125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기본: Inbox=receivedAt↓ · All=submittedAt↓ / Stage 정렬은 CREATE→CHANGE→CLAIM 순, Risk 정렬은 플래그 개수 기준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행에서 리포트 조회</a:t>
            </a:r>
            <a:endParaRPr lang="en-US" sz="125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approval_review_fetch_report 모델로 결재 문서 HTML 리포트 수신·표시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Excel Download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188720"/>
            <a:ext cx="5056632" cy="1325880"/>
          </a:xfrm>
          <a:prstGeom prst="roundRect">
            <a:avLst>
              <a:gd name="adj" fmla="val 6207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325880"/>
            <a:ext cx="4599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차트의 스테이지 막대 / 리스크 행 클릭 → 테이블에 해당 필터 적용, 같은 항목 재클릭 시 해제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0" y="2697480"/>
            <a:ext cx="5056632" cy="1417320"/>
          </a:xfrm>
          <a:prstGeom prst="roundRect">
            <a:avLst>
              <a:gd name="adj" fmla="val 5806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2834640"/>
            <a:ext cx="4599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지문 = {userId, period} — 월을 바꾸면 반드시 재조회 발생.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이동 후 복귀 시(같은 월이면) 재조회 없음.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4297680"/>
            <a:ext cx="5056632" cy="1600200"/>
          </a:xfrm>
          <a:prstGeom prst="roundRect">
            <a:avLst>
              <a:gd name="adj" fmla="val 5143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94576" y="4517136"/>
            <a:ext cx="384048" cy="384048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24928" y="4462272"/>
            <a:ext cx="4050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주의 — AI Insight 없음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화면 중 유일하게 AI Insight가 없는 화면. “Approval에는 왜 Insight가 없나요” 문의 → 누락·오류가 아니라 설계임을 안내.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L/T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처리 리드타임(L/T) 분석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56064" y="347472"/>
            <a:ext cx="2075688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claim.js · claim-proxy.jsp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5989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전체 평균 L/T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Customer Delay / Samsung Delay 일수·비중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12개월 추이</a:t>
            </a:r>
            <a:endParaRPr lang="en-US" sz="1250" dirty="0"/>
          </a:p>
          <a:p>
            <a:pPr lvl="1" marL="304800" indent="-1524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당월/전월 평균 L/T 비교 · 12개월 중 최고치 여부 · 추세 방향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by Customer 표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평균 L/T 내림차순</a:t>
            </a:r>
            <a:endParaRPr lang="en-US" sz="1250" dirty="0"/>
          </a:p>
          <a:p>
            <a:pPr lvl="1" marL="304800" indent="-1524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토글 필터: Over Company Avg(기본) / All Customers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AI Insight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핵심 통계를 압축해 전달</a:t>
            </a:r>
            <a:endParaRPr lang="en-US" sz="1250" dirty="0"/>
          </a:p>
          <a:p>
            <a:pPr lvl="1" marL="304800" indent="-1524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문구: “3월 평균 L/T 63.9일, Customer Delay 49.1일이 주요 병목…”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XLSX 다운로드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by Customer 표</a:t>
            </a:r>
            <a:endParaRPr lang="en-US" sz="1250" dirty="0"/>
          </a:p>
          <a:p>
            <a:pPr lvl="1" marL="304800" indent="-1524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컬럼 · 2단 헤더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0" y="1188720"/>
            <a:ext cx="4873752" cy="13716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316736"/>
            <a:ext cx="4416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경로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claim_lead_time_main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대시보드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cl_lt_ai_insight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AI Insight (공용 모델)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api/claim-proxy.jsp 경유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2743200"/>
            <a:ext cx="4873752" cy="13716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871216"/>
            <a:ext cx="4416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Month</a:t>
            </a:r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 화면 마지막 적용값 &gt; 당월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 / BA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공유 필터 이어받기 (첫 진입 시)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4297680"/>
            <a:ext cx="4873752" cy="1600200"/>
          </a:xfrm>
          <a:prstGeom prst="roundRect">
            <a:avLst>
              <a:gd name="adj" fmla="val 5143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7456" y="4517136"/>
            <a:ext cx="384048" cy="384048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07808" y="4462272"/>
            <a:ext cx="38679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주의 — 월이 안 이어져요?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Month는 Approval의 월을 이어받지 않음 — 화면 간 월 덮임 방지를 위한 의도된 설계. 버그 아님.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만료(Expired)된 미결 조건 모니터링 — 기간 필터가 없는 유일한 스냅샷 화면 (항상 현재 시점 기준)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81744" y="347472"/>
            <a:ext cx="2350008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overdue.js · expired-proxy.jsp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5989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By Division 표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연체금액(overdueAmt) 내림차순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K는 표 주석으로 표기 · aging 구간 컬럼 포함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By Customer 표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선택한 Division의 거래선별 상세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연체금액 내림차순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By Condition 표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경과일수(delayDays) 내림차순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API(expired_cd_fetch_odata_extra)로 조회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AI Insight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전처리 통계 전달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충당 Balance / 90일+ 금액·비중 / Division별 90일+ 내림차순 / Division별 상위 거래선 / 2년+ 경과 금액·건수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Excel Download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188720"/>
            <a:ext cx="4873752" cy="2286000"/>
          </a:xfrm>
          <a:prstGeom prst="roundRect">
            <a:avLst>
              <a:gd name="adj" fmla="val 36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316736"/>
            <a:ext cx="44165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3개  ·  api/expired-proxy.jsp 경유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expired_conditions_main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대시보드 (By Division / By Customer)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expired_cd_fetch_odata_extra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 Condition 표 전용 (별도 API)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expired_ai_insight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(공용 모델)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3657600"/>
            <a:ext cx="4873752" cy="1234440"/>
          </a:xfrm>
          <a:prstGeom prst="roundRect">
            <a:avLst>
              <a:gd name="adj" fmla="val 6667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3785616"/>
            <a:ext cx="4416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· 캐시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필터는 Company / BA 뿐 — 기간 필터 없음.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지문도 {userId, bukrs, gsper} 만으로 구성.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5074920"/>
            <a:ext cx="4873752" cy="822960"/>
          </a:xfrm>
          <a:prstGeom prst="roundRect">
            <a:avLst>
              <a:gd name="adj" fmla="val 10000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7456" y="5294376"/>
            <a:ext cx="384048" cy="384048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07808" y="5175504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“지난달 기준으로 보고 싶다” 문의 → 이 화면은 스냅샷 전용, 과거 시점 조회 불가로 안내.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Budget  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목표(Target Plan) 대비 실행 현황 — 역할 · 호출 경로 · 필터 동작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21924" y="347472"/>
            <a:ext cx="909828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 — 한 화면이 두 개의 프록시 경로 사용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2103120" cy="1783080"/>
          </a:xfrm>
          <a:prstGeom prst="roundRect">
            <a:avLst>
              <a:gd name="adj" fmla="val 4615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72768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budget.js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1956816"/>
            <a:ext cx="1280160" cy="0"/>
          </a:xfrm>
          <a:prstGeom prst="line">
            <a:avLst/>
          </a:prstGeom>
          <a:noFill/>
          <a:ln w="19050">
            <a:solidFill>
              <a:srgbClr val="6A748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2980944"/>
            <a:ext cx="1280160" cy="0"/>
          </a:xfrm>
          <a:prstGeom prst="line">
            <a:avLst/>
          </a:prstGeom>
          <a:noFill/>
          <a:ln w="19050">
            <a:solidFill>
              <a:srgbClr val="6A748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0" y="1572768"/>
            <a:ext cx="7616952" cy="777240"/>
          </a:xfrm>
          <a:prstGeom prst="roundRect">
            <a:avLst>
              <a:gd name="adj" fmla="val 10588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57276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모델 (REPA958…)</a:t>
            </a:r>
            <a:pPr indent="0" marL="0"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proxy.jsp 경유 — streamApi, JWT 첨부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0" y="2596896"/>
            <a:ext cx="7616952" cy="777240"/>
          </a:xfrm>
          <a:prstGeom prst="roundRect">
            <a:avLst>
              <a:gd name="adj" fmla="val 10588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59689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(공용 모델)</a:t>
            </a:r>
            <a:pPr indent="0" marL="0"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api/claim-proxy.jsp 경유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동작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354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— 당월 자동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 / BA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화면 마지막 적용값 &gt; 공유 필터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 섹션 전용 로컬 필터 — 상단 카드·SUMMARY는 항상 전체 기준. 최초 진입 시엔 복원하지 않고 항상 전체로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SD Type / Status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다중선택 — null=미조작(전체), 배열=명시적 선택 ([]=None)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Budget  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 · 운영 주의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21924" y="347472"/>
            <a:ext cx="909828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5897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상단 카드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Execution % · Estimated 금액 등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SUMMARY 표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Division × SD Type × (MONTH 6개월 + QUARTER 6분기) · 3단 병합 헤더 / 기본 정렬: 당월 목표액(month_target) 내림차순 / XLSX 다운로드(병합 헤더 포함)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DETAIL Condition List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정렬 amount 내림차순 · 100행 제한 + Show more / Division 변경 시 이 섹션만 재조회·부분 갱신 (상단 카드·SUMMARY는 손대지 않음)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AI Insight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0" y="1188720"/>
            <a:ext cx="4965192" cy="2926080"/>
          </a:xfrm>
          <a:prstGeom prst="roundRect">
            <a:avLst>
              <a:gd name="adj" fmla="val 2813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4304" y="1426464"/>
            <a:ext cx="420624" cy="420624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0" y="1389888"/>
            <a:ext cx="3867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주의 — “Division을 바꿨는데 카드가 안 바뀌어요”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의도된 동작입니다 (버그 아님)</a:t>
            </a:r>
            <a:endParaRPr lang="en-US" sz="1300" dirty="0"/>
          </a:p>
          <a:p>
            <a:pPr marL="127000" indent="-127000">
              <a:lnSpc>
                <a:spcPct val="116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Division은 DETAIL 전용 필터 — 상단 카드와 SUMMARY 표는 항상 전체 기준으로 유지.</a:t>
            </a:r>
            <a:endParaRPr lang="en-US" sz="1300" dirty="0"/>
          </a:p>
          <a:p>
            <a:pPr marL="127000" indent="-127000">
              <a:lnSpc>
                <a:spcPct val="116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Division 변경 시 DETAIL Condition List만 재조회·부분 갱신됨.</a:t>
            </a:r>
            <a:endParaRPr lang="en-US" sz="1300" dirty="0"/>
          </a:p>
          <a:p>
            <a:pPr marL="127000" indent="-127000">
              <a:lnSpc>
                <a:spcPct val="116000"/>
              </a:lnSpc>
              <a:buSzPct val="100000"/>
              <a:buChar char="▪"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문의 접수 시 → 설계 동작임을 안내하고 종결.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4343400"/>
            <a:ext cx="4965192" cy="1417320"/>
          </a:xfrm>
          <a:prstGeom prst="roundRect">
            <a:avLst>
              <a:gd name="adj" fmla="val 5806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4498848"/>
            <a:ext cx="4507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필터가 없어 항상 당월 기준으로 조회됨. SD Type / Status는 다중선택([] 선택 시 None으로 동작).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Customer  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Stage 구조 — Apply 버튼 3개 · Stage별 독립 조회  ·  모델 7개(customer-proxy.jsp 경유)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244584" y="347472"/>
            <a:ext cx="2487168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customer.js · customer-proxy.jsp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11274552" cy="566928"/>
          </a:xfrm>
          <a:prstGeom prst="roundRect">
            <a:avLst>
              <a:gd name="adj" fmla="val 14516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1704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Month   </a:t>
            </a:r>
            <a:pPr indent="0" marL="0"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= KST 기준 전월  ·  선택 범위 = 전월 ~ 6개월 전 (당월 제외, 총 6개 옵션)  ·  저장된 월이 범위를 벗어나면 전월로 리셋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0280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68880"/>
            <a:ext cx="260604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402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진입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843784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공유 필터·목록 캐시 복원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(API 호출 없음)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Customer(Account) 목록 API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호출 → 드롭다운 표시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95244" y="3776472"/>
            <a:ext cx="219456" cy="219456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46704" y="224028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6704" y="2240280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6704" y="2468880"/>
            <a:ext cx="260604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22402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  ·  Apply 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11296" y="2843784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Customer(단일) + Division(다중)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Monthly Trend + By Activity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2개 API 병렬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필터 옵션 API 병렬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실패해도 Stage 1 화면은 정상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AI Insight 자동 생성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두 데이터 도착 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4748" y="3776472"/>
            <a:ext cx="219456" cy="219456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224028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2240280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2468880"/>
            <a:ext cx="260604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2402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2  ·  Apply 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2843784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Product(다중) + TIM Activity(다중)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Ongoing SPOT Conditions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 조회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874252" y="3776472"/>
            <a:ext cx="219456" cy="219456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25712" y="224028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25712" y="2240280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25712" y="2468880"/>
            <a:ext cx="260604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22402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3  ·  Apply ③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90304" y="2843784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A/B 날짜범위(from/to) + Product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Sell-out Comparison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기본 A=당월 1일~말일, B=전월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도넛 차트(비중/금액 전환)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A/B Condition List 탭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자체 AI Insight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Customer  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변경 시 동작 · 화면 요소 상세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84764" y="347472"/>
            <a:ext cx="1046988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customer.js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77256" cy="2103120"/>
          </a:xfrm>
          <a:prstGeom prst="roundRect">
            <a:avLst>
              <a:gd name="adj" fmla="val 3913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26464"/>
            <a:ext cx="402336" cy="402336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45079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필터 변경 → 하위 전부 무효화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 / Division(Stage 1 필터)이 바뀌면 하위 캐시(Ongoing SPOT · Sell-out · 필터옵션)를 모두 무효화.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필터 기준의 데이터가 섞여 보이지 않게 하는 의도된 동작 — “선택이 풀렸어요” 문의는 버그 아님.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4496" y="1207008"/>
            <a:ext cx="5477256" cy="2103120"/>
          </a:xfrm>
          <a:prstGeom prst="roundRect">
            <a:avLst>
              <a:gd name="adj" fmla="val 3913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389888"/>
            <a:ext cx="49651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 / BA 변경 시</a:t>
            </a:r>
            <a:endParaRPr lang="en-US" sz="1300" dirty="0"/>
          </a:p>
          <a:p>
            <a:pPr marL="127000" indent="-127000">
              <a:lnSpc>
                <a:spcPct val="116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sd.filter에 저장 → 다른 화면에 전파</a:t>
            </a:r>
            <a:endParaRPr lang="en-US" sz="1300" dirty="0"/>
          </a:p>
          <a:p>
            <a:pPr marL="127000" indent="-127000">
              <a:lnSpc>
                <a:spcPct val="116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Customer(Account) 목록 재조회</a:t>
            </a:r>
            <a:endParaRPr lang="en-US" sz="1300" dirty="0"/>
          </a:p>
          <a:p>
            <a:pPr marL="127000" indent="-127000">
              <a:lnSpc>
                <a:spcPct val="116000"/>
              </a:lnSpc>
              <a:buSzPct val="100000"/>
              <a:buChar char="▪"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선택·캐시 전부 초기화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477256" cy="2103120"/>
          </a:xfrm>
          <a:prstGeom prst="roundRect">
            <a:avLst>
              <a:gd name="adj" fmla="val 3913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749040"/>
            <a:ext cx="49651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 Activity 표 — 4단계 트리</a:t>
            </a:r>
            <a:endParaRPr lang="en-US" sz="1300" dirty="0"/>
          </a:p>
          <a:p>
            <a:pPr marL="127000" indent="-127000">
              <a:lnSpc>
                <a:spcPct val="116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level 3 이하 행은 기본 접힘 — 부모 행 클릭으로 펼침</a:t>
            </a:r>
            <a:endParaRPr lang="en-US" sz="1300" dirty="0"/>
          </a:p>
          <a:p>
            <a:pPr marL="127000" indent="-127000">
              <a:lnSpc>
                <a:spcPct val="116000"/>
              </a:lnSpc>
              <a:buSzPct val="100000"/>
              <a:buChar char="▪"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접힘 상태는 저장하지 않음 → 재진입 시 다시 접힌 상태 (문의 시 설계 안내)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54496" y="3566160"/>
            <a:ext cx="5477256" cy="2103120"/>
          </a:xfrm>
          <a:prstGeom prst="roundRect">
            <a:avLst>
              <a:gd name="adj" fmla="val 3913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3749040"/>
            <a:ext cx="49651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Sell-out Condition List를 브라우저에서 직접 XLSX 생성 (백엔드 미경유 — 공통 동작 참조)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Insight는 Stage별 최대 3개 (Stage 1 자동 + Stage 3 자체 Insight)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Product  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상품(Division/Product) 관점 프로모션 금액 분석 — 1·2·3번 계단 구조: 상위를 Apply해야 하위가 유효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81744" y="347472"/>
            <a:ext cx="2350008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product.js · product-proxy.jsp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548640"/>
          </a:xfrm>
          <a:prstGeom prst="roundRect">
            <a:avLst>
              <a:gd name="adj" fmla="val 150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188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진입   </a:t>
            </a:r>
            <a:pPr indent="0" marL="0"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필터·목록 캐시 복원  +  Product 목록·Customer 목록 API 2개 병렬 호출  (Customer 목록은 customer.js와 동일 모델)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595360" cy="1371600"/>
          </a:xfrm>
          <a:prstGeom prst="roundRect">
            <a:avLst>
              <a:gd name="adj" fmla="val 6000"/>
            </a:avLst>
          </a:prstGeom>
          <a:solidFill>
            <a:srgbClr val="D9E4F5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66544"/>
            <a:ext cx="384048" cy="384048"/>
          </a:xfrm>
          <a:prstGeom prst="ellipse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0391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필터 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3000" y="2377440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Company/BA(필수·상속) · Division · Period(최근 12개월, 기본 from=11개월 전 ~ to=당월) · Product · Customer  →  Apply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Promotion Amount 조회 → BY ACCOUNT / BY ACTIVITY 카드 + Condition Detail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Period가 바뀐 Apply는 Product/Customer 목록도 함께 재조회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3319272"/>
            <a:ext cx="201168" cy="173736"/>
          </a:xfrm>
          <a:prstGeom prst="down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520440"/>
            <a:ext cx="8595360" cy="1097280"/>
          </a:xfrm>
          <a:prstGeom prst="roundRect">
            <a:avLst>
              <a:gd name="adj" fmla="val 75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666744"/>
            <a:ext cx="384048" cy="384048"/>
          </a:xfrm>
          <a:prstGeom prst="ellipse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6393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 Detail 필터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68880" y="397764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선택 없음 — Customer(Account) · TIM Activity를 고르고 Apply해야 테이블 표시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= 1번 Apply에서 상속한 목록 ∩ 실제 조회된 조건에 있는 계정만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4645152"/>
            <a:ext cx="201168" cy="173736"/>
          </a:xfrm>
          <a:prstGeom prst="down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4846320"/>
            <a:ext cx="8595360" cy="1097280"/>
          </a:xfrm>
          <a:prstGeom prst="roundRect">
            <a:avLst>
              <a:gd name="adj" fmla="val 75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992624"/>
            <a:ext cx="384048" cy="384048"/>
          </a:xfrm>
          <a:prstGeom prst="ellipse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94760" y="49651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 Comparison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94760" y="530352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선택 없음 — 고객 A/B를 고르고 Apply해야 비교 차트/리스트 표시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옵션 = 2번과 동일한 계정 집합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6053328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Apply 순서:  ① → ② → 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Product  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 · 표기 · AI Insight · Excel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53344" y="347472"/>
            <a:ext cx="978408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product.js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806440" cy="4663440"/>
          </a:xfrm>
          <a:prstGeom prst="roundRect">
            <a:avLst>
              <a:gd name="adj" fmla="val 1765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444752"/>
            <a:ext cx="420624" cy="420624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296" y="1426464"/>
            <a:ext cx="4800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 — 상위 Apply는 하위를 초기화</a:t>
            </a:r>
            <a:endParaRPr lang="en-US" sz="1500" dirty="0"/>
          </a:p>
          <a:p>
            <a:pPr marL="127000" indent="-127000">
              <a:lnSpc>
                <a:spcPct val="12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 Apply 시 2·3번의 선택값까지 전부 무효화</a:t>
            </a:r>
            <a:endParaRPr lang="en-US" sz="1500" dirty="0"/>
          </a:p>
          <a:p>
            <a:pPr lvl="1"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1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옵션의 원천이 바뀌므로 이전 선택은 무의미해짐.</a:t>
            </a:r>
            <a:endParaRPr lang="en-US" sz="1500" dirty="0"/>
          </a:p>
          <a:p>
            <a:pPr marL="127000" indent="-127000">
              <a:lnSpc>
                <a:spcPct val="12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Company/BA 변경 시에도 하위 전체 초기화</a:t>
            </a:r>
            <a:endParaRPr lang="en-US" sz="1500" dirty="0"/>
          </a:p>
          <a:p>
            <a:pPr lvl="1"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1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계정코드가 BA 간 겹칠 수 있어 “목록에 없으면 지운다” 방식으로는 부족하기 때문.</a:t>
            </a:r>
            <a:endParaRPr lang="en-US" sz="1500" dirty="0"/>
          </a:p>
          <a:p>
            <a:pPr marL="127000" indent="-127000">
              <a:lnSpc>
                <a:spcPct val="12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대응</a:t>
            </a:r>
            <a:endParaRPr lang="en-US" sz="1500" dirty="0"/>
          </a:p>
          <a:p>
            <a:pPr lvl="1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“2·3번 선택이 사라졌어요” → 1번 Apply 또는 Company/BA 변경에 따른 정상 동작으로 안내.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1207008"/>
            <a:ext cx="5148072" cy="1417320"/>
          </a:xfrm>
          <a:prstGeom prst="roundRect">
            <a:avLst>
              <a:gd name="adj" fmla="val 5806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344168"/>
            <a:ext cx="4690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규칙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화면의 모든 수치는 소수 최대 1자리, 금액은 값 뒤에 K 단위 명시.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1435F"/>
                </a:solidFill>
                <a:highlight>
                  <a:srgbClr val="EDF1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예: 84,479.8K EUR 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2807208"/>
            <a:ext cx="5148072" cy="1600200"/>
          </a:xfrm>
          <a:prstGeom prst="roundRect">
            <a:avLst>
              <a:gd name="adj" fmla="val 5143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944368"/>
            <a:ext cx="4690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— 압축 전달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Promotion Amount 데이터를 상위 고객 2개 + 상위 activity 3개 + 나머지 집계로 압축해 전달.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전체를 보내면 LLM이 전부 나열하는 문제의 재발 방지 목적.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4590288"/>
            <a:ext cx="5148072" cy="1280160"/>
          </a:xfrm>
          <a:prstGeom prst="roundRect">
            <a:avLst>
              <a:gd name="adj" fmla="val 6429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4727448"/>
            <a:ext cx="46908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— 2종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 Detail / Comparison Condition List 둘 다 브라우저에서 직접 XLSX 생성.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간 비교 요약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문의 대응용 치트시트 — 6개 화면의 핵심 차이를 한눈에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700784"/>
                <a:gridCol w="1627632"/>
                <a:gridCol w="1481328"/>
                <a:gridCol w="1700784"/>
                <a:gridCol w="1874520"/>
                <a:gridCol w="165506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 L/T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overdue.js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프록시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proxy.jsp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expired-proxy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proxy.jsp +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 필터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 Month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(당월 기본)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 Month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(당월 기본)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(당월 자동)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 Month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(전월 기본·당월 제외)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Period 범위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(12개월)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Apply 버튼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 (월 전용)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(Stage별)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(1·2·3번)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Insight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(Stage별 최대 3개)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Excel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 (SUMMARY)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 (Sell-out)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 (2종)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특이사항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 필터의 원천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Company/BA 즉시 적용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 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이어받지 않음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스냅샷 화면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 전용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Stage 변경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하위 무효화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1번 Apply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2·3번 무효화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굵은 주황 표기 = 문의가 잦을 것으로 예상되는 차이점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2026-08-24T08:30:10Z</dcterms:created>
  <dcterms:modified xsi:type="dcterms:W3CDTF">2026-08-24T08:30:10Z</dcterms:modified>
</cp:coreProperties>
</file>